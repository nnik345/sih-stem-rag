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8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98" y="7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Hallucination-Resistant Multimodal Socratic Tutor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378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dirty="0"/>
              <a:t>SIH26207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dirty="0"/>
              <a:t>Student Innovation-Smart education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Jura Tempest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BEE199-1E4C-5193-1FED-05A71D9D8126}"/>
              </a:ext>
            </a:extLst>
          </p:cNvPr>
          <p:cNvSpPr txBox="1"/>
          <p:nvPr/>
        </p:nvSpPr>
        <p:spPr>
          <a:xfrm>
            <a:off x="329771" y="1143000"/>
            <a:ext cx="7533691" cy="5714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b="1" u="sng" dirty="0">
                <a:solidFill>
                  <a:srgbClr val="0070C0"/>
                </a:solidFill>
              </a:rPr>
              <a:t>Proposed Solution:</a:t>
            </a:r>
          </a:p>
          <a:p>
            <a:endParaRPr lang="en-US" sz="900" b="1" u="sng" dirty="0"/>
          </a:p>
          <a:p>
            <a:r>
              <a:rPr lang="en-US" sz="1200" b="1" dirty="0"/>
              <a:t>Detailed Explanation:</a:t>
            </a:r>
          </a:p>
          <a:p>
            <a:pPr marL="205740" indent="-20574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An offline doubt-solving tutor for students across different classes and subjects, grounded in a defined curriculum. </a:t>
            </a:r>
          </a:p>
          <a:p>
            <a:pPr marL="205740" indent="-20574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The selected curriculum is transformed into a structured knowledge graph — from chapters to pages, sections and chunks — while preserving relevant figures. </a:t>
            </a:r>
          </a:p>
          <a:p>
            <a:pPr marL="205740" indent="-20574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A student selects their class and subject, then types a doubt or uploads a photo of the question. </a:t>
            </a:r>
          </a:p>
          <a:p>
            <a:pPr marL="205740" indent="-20574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The system retrieves relevant data from the curriculum, checks whether the evidence is sufficient, and only then generates a response.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en-US" sz="1100" dirty="0">
              <a:solidFill>
                <a:srgbClr val="1A2434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200" b="1" dirty="0">
                <a:solidFill>
                  <a:srgbClr val="1A2434"/>
                </a:solidFill>
                <a:latin typeface="+mj-lt"/>
                <a:cs typeface="Arial" pitchFamily="34" charset="0"/>
              </a:rPr>
              <a:t>How it addresses the problem:</a:t>
            </a:r>
          </a:p>
          <a:p>
            <a:pPr marL="205740" indent="-20574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Every reply is built from retrieved data, so it stays inside the syllabus and at the student’s own class level.</a:t>
            </a:r>
          </a:p>
          <a:p>
            <a:pPr marL="205740" indent="-20574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If the book does not back the doubt, the tutor says so instead of inventing an answer.</a:t>
            </a:r>
          </a:p>
          <a:p>
            <a:pPr marL="205740" indent="-20574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A teacher can open the dashboard and see exactly which data a reply came from.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en-US" sz="1100" dirty="0">
              <a:solidFill>
                <a:srgbClr val="1A2434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200" b="1" dirty="0">
                <a:solidFill>
                  <a:srgbClr val="1A2434"/>
                </a:solidFill>
                <a:latin typeface="+mj-lt"/>
                <a:cs typeface="Arial" pitchFamily="34" charset="0"/>
              </a:rPr>
              <a:t>Innovation and uniqueness of the solution:</a:t>
            </a:r>
          </a:p>
          <a:p>
            <a:pPr marL="205740" indent="-20574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It teaches instead of answering: one hint and one guiding question, with separate modes to explain a concept or check the student’s own attempt.</a:t>
            </a:r>
          </a:p>
          <a:p>
            <a:pPr marL="205740" indent="-20574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Before answering, the system checks whether the retrieved evidence is relevant and strong enough; otherwise, it stops rather than generate an unsupported response.</a:t>
            </a:r>
          </a:p>
          <a:p>
            <a:pPr marL="205740" indent="-20574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One database does all three searches — meaning, exact words and chapter structure — merged by weighted Reciprocal Rank Fusion.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	Weighted Reciprocal Rank Fusion : score(chunk) = (Σ for all channels) </a:t>
            </a:r>
            <a:r>
              <a:rPr lang="en-US" sz="1100" dirty="0" err="1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weight_channel</a:t>
            </a: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 / (k + </a:t>
            </a:r>
            <a:r>
              <a:rPr lang="en-US" sz="1100" dirty="0" err="1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rank_channel</a:t>
            </a: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marL="205740" indent="-20574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Retrieval is class-aware: this class and lower classes only, never above.</a:t>
            </a:r>
          </a:p>
          <a:p>
            <a:pPr marL="205740" indent="-20574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Maths</a:t>
            </a: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-based “is my answer right?” checks are verified with </a:t>
            </a:r>
            <a:r>
              <a:rPr lang="en-US" sz="1100" dirty="0" err="1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SymPy</a:t>
            </a: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, not left to the model.</a:t>
            </a:r>
          </a:p>
          <a:p>
            <a:pPr marL="205740" indent="-20574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Everything runs on one machine, and student photos are deleted after the query.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en-US" sz="1200" b="1" dirty="0">
              <a:solidFill>
                <a:srgbClr val="1A2434"/>
              </a:solidFill>
              <a:latin typeface="+mj-lt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en-US" sz="1200" b="1" dirty="0">
              <a:solidFill>
                <a:srgbClr val="1A2434"/>
              </a:solidFill>
              <a:latin typeface="+mj-lt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en-US" sz="1400" b="1" dirty="0">
              <a:solidFill>
                <a:srgbClr val="1A243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Jura</a:t>
            </a:r>
          </a:p>
          <a:p>
            <a:pPr algn="ctr"/>
            <a:r>
              <a:rPr lang="en-US" sz="1600" dirty="0"/>
              <a:t>Tempest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 descr="slide2-student-view.png">
            <a:extLst>
              <a:ext uri="{FF2B5EF4-FFF2-40B4-BE49-F238E27FC236}">
                <a16:creationId xmlns:a16="http://schemas.microsoft.com/office/drawing/2014/main" id="{84A3A128-A845-E7A0-E17C-752C6D734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462" y="1664499"/>
            <a:ext cx="4189548" cy="40505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7DD787-EA70-9977-DC7B-75A3161F8CEE}"/>
              </a:ext>
            </a:extLst>
          </p:cNvPr>
          <p:cNvSpPr txBox="1"/>
          <p:nvPr/>
        </p:nvSpPr>
        <p:spPr>
          <a:xfrm>
            <a:off x="527883" y="1195959"/>
            <a:ext cx="618134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2. Technologies Used:</a:t>
            </a:r>
          </a:p>
          <a:p>
            <a:r>
              <a:rPr lang="en-AE" sz="1400" b="1" dirty="0"/>
              <a:t>Data &amp; Retrieval:</a:t>
            </a:r>
            <a:r>
              <a:rPr lang="en-AE" sz="1400" dirty="0"/>
              <a:t> Python + </a:t>
            </a:r>
            <a:r>
              <a:rPr lang="en-AE" sz="1400" dirty="0" err="1"/>
              <a:t>PyMuPDF</a:t>
            </a:r>
            <a:r>
              <a:rPr lang="en-AE" sz="1400" dirty="0"/>
              <a:t> for NCERT parsing → hierarchical Document/Page/Section/Chunking → BGE-M3 embeddings → Neo4j Knowledge Graph with cosine Vector + Lucene Full-Text indexes → Hybrid Retrieval + Weighted RRF + BGE-Reranker-v2-m3.</a:t>
            </a:r>
            <a:br>
              <a:rPr lang="en-AE" sz="1400" dirty="0"/>
            </a:br>
            <a:r>
              <a:rPr lang="en-AE" sz="1400" b="1" dirty="0"/>
              <a:t>AI &amp; Application:</a:t>
            </a:r>
            <a:r>
              <a:rPr lang="en-AE" sz="1400" dirty="0"/>
              <a:t> Qwen3-VL-2B for query rewriting/photo understanding + </a:t>
            </a:r>
            <a:r>
              <a:rPr lang="en-AE" sz="1400" dirty="0" err="1"/>
              <a:t>SigLIP</a:t>
            </a:r>
            <a:r>
              <a:rPr lang="en-AE" sz="1400" dirty="0"/>
              <a:t> for figure matching → Evidence Sufficiency Gate → Qwen3-VL-8B-Instruct for Socratic tutoring → </a:t>
            </a:r>
            <a:r>
              <a:rPr lang="en-AE" sz="1400" dirty="0" err="1"/>
              <a:t>FastAPI</a:t>
            </a:r>
            <a:r>
              <a:rPr lang="en-AE" sz="1400" dirty="0"/>
              <a:t> + React/Vite + </a:t>
            </a:r>
            <a:r>
              <a:rPr lang="en-AE" sz="1400" dirty="0" err="1"/>
              <a:t>Cytoscape</a:t>
            </a:r>
            <a:r>
              <a:rPr lang="en-AE" sz="1400" dirty="0"/>
              <a:t> for local observability → </a:t>
            </a:r>
            <a:r>
              <a:rPr lang="en-AE" sz="1400" dirty="0" err="1"/>
              <a:t>SymPy</a:t>
            </a:r>
            <a:r>
              <a:rPr lang="en-AE" sz="1400" dirty="0"/>
              <a:t> for mathematical verification. </a:t>
            </a:r>
          </a:p>
          <a:p>
            <a:endParaRPr lang="en-AE" sz="1400" dirty="0"/>
          </a:p>
          <a:p>
            <a:endParaRPr lang="en-AE" sz="1400" dirty="0"/>
          </a:p>
          <a:p>
            <a:r>
              <a:rPr lang="en-AE" sz="1600" b="1" dirty="0">
                <a:solidFill>
                  <a:srgbClr val="0070C0"/>
                </a:solidFill>
              </a:rPr>
              <a:t>3. Methodology:</a:t>
            </a:r>
          </a:p>
          <a:p>
            <a:pPr lvl="0"/>
            <a:r>
              <a:rPr lang="en-AE" sz="1400" b="1" dirty="0"/>
              <a:t>NCERT Parsing:</a:t>
            </a:r>
            <a:r>
              <a:rPr lang="en-AE" sz="1400" dirty="0"/>
              <a:t> </a:t>
            </a:r>
            <a:r>
              <a:rPr lang="en-AE" sz="1400" dirty="0" err="1"/>
              <a:t>PyMuPDF</a:t>
            </a:r>
            <a:r>
              <a:rPr lang="en-AE" sz="1400" dirty="0"/>
              <a:t> → Document → Page → Section → Chunk </a:t>
            </a:r>
          </a:p>
          <a:p>
            <a:pPr lvl="0"/>
            <a:r>
              <a:rPr lang="en-AE" sz="1400" b="1" dirty="0"/>
              <a:t>Knowledge Base:</a:t>
            </a:r>
            <a:r>
              <a:rPr lang="en-AE" sz="1400" dirty="0"/>
              <a:t> BGE-M3 embeddings → Neo4j Graph + Vector + Lucene indexes </a:t>
            </a:r>
          </a:p>
          <a:p>
            <a:pPr lvl="0"/>
            <a:r>
              <a:rPr lang="en-AE" sz="1400" b="1" dirty="0"/>
              <a:t>Query Processing:</a:t>
            </a:r>
            <a:r>
              <a:rPr lang="en-AE" sz="1400" dirty="0"/>
              <a:t> Grade/Subject filtering → Qwen3-VL-2B rewrite → </a:t>
            </a:r>
            <a:r>
              <a:rPr lang="en-AE" sz="1400" dirty="0" err="1"/>
              <a:t>SigLIP</a:t>
            </a:r>
            <a:r>
              <a:rPr lang="en-AE" sz="1400" dirty="0"/>
              <a:t> for images </a:t>
            </a:r>
          </a:p>
          <a:p>
            <a:pPr lvl="0"/>
            <a:r>
              <a:rPr lang="en-AE" sz="1400" b="1" dirty="0"/>
              <a:t>Hybrid Retrieval:</a:t>
            </a:r>
            <a:r>
              <a:rPr lang="en-AE" sz="1400" dirty="0"/>
              <a:t> Dense + Lexical + Graph + Figure retrieval → Weighted RRF </a:t>
            </a:r>
          </a:p>
          <a:p>
            <a:pPr lvl="0"/>
            <a:r>
              <a:rPr lang="en-AE" sz="1400" b="1" dirty="0"/>
              <a:t>Evidence Check:</a:t>
            </a:r>
            <a:r>
              <a:rPr lang="en-AE" sz="1400" dirty="0"/>
              <a:t> BGE </a:t>
            </a:r>
            <a:r>
              <a:rPr lang="en-AE" sz="1400" dirty="0" err="1"/>
              <a:t>Reranker</a:t>
            </a:r>
            <a:r>
              <a:rPr lang="en-AE" sz="1400" dirty="0"/>
              <a:t> → Grade-aware selection → Evidence Sufficiency Gate </a:t>
            </a:r>
          </a:p>
          <a:p>
            <a:pPr lvl="0"/>
            <a:r>
              <a:rPr lang="en-AE" sz="1400" b="1" dirty="0"/>
              <a:t>Tutoring:</a:t>
            </a:r>
            <a:r>
              <a:rPr lang="en-AE" sz="1400" dirty="0"/>
              <a:t> Qwen3-VL-8B → Structured &amp; validated Socratic response</a:t>
            </a:r>
          </a:p>
          <a:p>
            <a:endParaRPr lang="en-US" sz="16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Jura Tempest</a:t>
            </a:r>
            <a:endParaRPr lang="en-IN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557FCE-E3A4-9829-A63C-7170FDDFF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1231754"/>
            <a:ext cx="5629273" cy="50914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Jura Tempest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C182EAA-DB1C-99E2-ED16-2EA50B4F4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210490"/>
              </p:ext>
            </p:extLst>
          </p:nvPr>
        </p:nvGraphicFramePr>
        <p:xfrm>
          <a:off x="329773" y="1588238"/>
          <a:ext cx="3788664" cy="3538162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788664">
                  <a:extLst>
                    <a:ext uri="{9D8B030D-6E8A-4147-A177-3AD203B41FA5}">
                      <a16:colId xmlns:a16="http://schemas.microsoft.com/office/drawing/2014/main" val="2444065359"/>
                    </a:ext>
                  </a:extLst>
                </a:gridCol>
              </a:tblGrid>
              <a:tr h="5796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 ALREADY WORKS</a:t>
                      </a:r>
                      <a:endParaRPr lang="en-A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9454203"/>
                  </a:ext>
                </a:extLst>
              </a:tr>
              <a:tr h="2958494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4A9E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The full pipeline runs end to end today - ingest, retrieve, gate, tutor, dashboard. Every part is free and open: Python, Neo4j Community, open-weight models.</a:t>
                      </a:r>
                    </a:p>
                    <a:p>
                      <a:pPr marL="285750" indent="-285750">
                        <a:buClr>
                          <a:srgbClr val="4A9E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The data is free and official - complete-book zips from ncert.nic.in, with SHA-256 recorded.</a:t>
                      </a:r>
                    </a:p>
                    <a:p>
                      <a:pPr marL="285750" indent="-285750">
                        <a:buClr>
                          <a:srgbClr val="4A9E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Models are loaded, used, then released, so a modest GPU is enough.</a:t>
                      </a:r>
                    </a:p>
                    <a:p>
                      <a:pPr marL="285750" indent="-285750">
                        <a:buClr>
                          <a:srgbClr val="4A9E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Nothing needs a network, so a school lab PC is enough.</a:t>
                      </a:r>
                      <a:endParaRPr lang="en-A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23031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0D29B1A-AD08-EEEF-CCC4-0776E539F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213653"/>
              </p:ext>
            </p:extLst>
          </p:nvPr>
        </p:nvGraphicFramePr>
        <p:xfrm>
          <a:off x="4284901" y="1588238"/>
          <a:ext cx="3788664" cy="353816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788664">
                  <a:extLst>
                    <a:ext uri="{9D8B030D-6E8A-4147-A177-3AD203B41FA5}">
                      <a16:colId xmlns:a16="http://schemas.microsoft.com/office/drawing/2014/main" val="2444065359"/>
                    </a:ext>
                  </a:extLst>
                </a:gridCol>
              </a:tblGrid>
              <a:tr h="5796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COULD GO WRONG</a:t>
                      </a:r>
                      <a:endParaRPr lang="en-A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9454203"/>
                  </a:ext>
                </a:extLst>
              </a:tr>
              <a:tr h="2958494"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6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On a small GPU some layers sit in RAM, so a reply can take a while.</a:t>
                      </a:r>
                    </a:p>
                    <a:p>
                      <a:pPr marL="285750" indent="-285750">
                        <a:buClr>
                          <a:schemeClr val="accent6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The evidence-gate thresholds are heuristics - they are not validated yet.</a:t>
                      </a:r>
                    </a:p>
                    <a:p>
                      <a:pPr marL="285750" indent="-285750">
                        <a:buClr>
                          <a:schemeClr val="accent6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We have no retrieval accuracy numbers, because no labelled question set exists.</a:t>
                      </a:r>
                    </a:p>
                    <a:p>
                      <a:pPr marL="285750" indent="-285750">
                        <a:buClr>
                          <a:schemeClr val="accent6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Section titles are noisy - page furniture is sometimes read as </a:t>
                      </a:r>
                      <a:r>
                        <a:rPr lang="en-US" sz="1400" dirty="0" err="1"/>
                        <a:t>aheading</a:t>
                      </a:r>
                      <a:r>
                        <a:rPr lang="en-US" sz="1400" dirty="0"/>
                        <a:t>.</a:t>
                      </a:r>
                      <a:endParaRPr lang="en-A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2303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5BD2385-8A30-4CD2-6417-4F4559650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456896"/>
              </p:ext>
            </p:extLst>
          </p:nvPr>
        </p:nvGraphicFramePr>
        <p:xfrm>
          <a:off x="8240029" y="1588238"/>
          <a:ext cx="3788664" cy="3538162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788664">
                  <a:extLst>
                    <a:ext uri="{9D8B030D-6E8A-4147-A177-3AD203B41FA5}">
                      <a16:colId xmlns:a16="http://schemas.microsoft.com/office/drawing/2014/main" val="2444065359"/>
                    </a:ext>
                  </a:extLst>
                </a:gridCol>
              </a:tblGrid>
              <a:tr h="5796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HOW WE HANDLE IT</a:t>
                      </a:r>
                      <a:endParaRPr lang="en-A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9454203"/>
                  </a:ext>
                </a:extLst>
              </a:tr>
              <a:tr h="2958494"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3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 hardware-aware loader splits weights between GPU and RAM and frees each model after use.</a:t>
                      </a:r>
                    </a:p>
                    <a:p>
                      <a:pPr marL="285750" indent="-285750">
                        <a:buClr>
                          <a:schemeClr val="accent3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Build a labelled question set, then tune the gate against </a:t>
                      </a:r>
                      <a:r>
                        <a:rPr lang="en-US" sz="1400" dirty="0" err="1"/>
                        <a:t>Recall@K</a:t>
                      </a:r>
                      <a:r>
                        <a:rPr lang="en-US" sz="1400" dirty="0"/>
                        <a:t>, MRR and </a:t>
                      </a:r>
                      <a:r>
                        <a:rPr lang="en-US" sz="1400" dirty="0" err="1"/>
                        <a:t>nDCG</a:t>
                      </a:r>
                      <a:r>
                        <a:rPr lang="en-US" sz="1400" dirty="0"/>
                        <a:t>.</a:t>
                      </a:r>
                    </a:p>
                    <a:p>
                      <a:pPr marL="285750" indent="-285750">
                        <a:buClr>
                          <a:schemeClr val="accent3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Fall back to page and chapter lineage instead of trusting section titles.</a:t>
                      </a:r>
                      <a:endParaRPr lang="en-A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23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Jura Tempest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C79E8F-FD66-BAE5-DEB2-F7DD24F1E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312980"/>
            <a:ext cx="12192000" cy="500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5760" y="1115568"/>
            <a:ext cx="11475720" cy="5138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45720" rIns="45720" bIns="45720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lang="en-US" sz="1400" b="1" i="0" u="sng" dirty="0">
                <a:solidFill>
                  <a:srgbClr val="1F3864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</a:p>
          <a:p>
            <a:pPr marL="0" indent="0" algn="l">
              <a:lnSpc>
                <a:spcPct val="100000"/>
              </a:lnSpc>
              <a:spcBef>
                <a:spcPts val="150"/>
              </a:spcBef>
              <a:spcAft>
                <a:spcPts val="250"/>
              </a:spcAft>
              <a:buNone/>
            </a:pPr>
            <a:r>
              <a:rPr lang="en-US" sz="1350" b="1" i="0" dirty="0">
                <a:solidFill>
                  <a:srgbClr val="0B6FB4"/>
                </a:solidFill>
                <a:latin typeface="Arial" pitchFamily="34" charset="0"/>
                <a:cs typeface="Arial" pitchFamily="34" charset="0"/>
              </a:rPr>
              <a:t>Curriculum source</a:t>
            </a:r>
          </a:p>
          <a:p>
            <a:pPr marL="205740" indent="-20574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NCERT textbooks, classes 1–12, official English editions — https://ncert.nic.in/textbook.php  ·  the only corpus we ingest; complete-book zips, with a SHA-256 manifest kept in the repository.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250"/>
              </a:spcAft>
              <a:buNone/>
            </a:pPr>
            <a:r>
              <a:rPr lang="en-US" sz="1350" b="1" i="0" dirty="0">
                <a:solidFill>
                  <a:srgbClr val="0B6FB4"/>
                </a:solidFill>
                <a:latin typeface="Arial" pitchFamily="34" charset="0"/>
                <a:cs typeface="Arial" pitchFamily="34" charset="0"/>
              </a:rPr>
              <a:t>Why a tutor, and why grounding matters</a:t>
            </a:r>
          </a:p>
          <a:p>
            <a:pPr marL="205740" indent="-20574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B. S. Bloom (1984), “The 2 Sigma Problem: The Search for Methods of Group Instruction as Effective as One-to-One Tutoring”, Educational Researcher 13(6), 4–16.</a:t>
            </a:r>
          </a:p>
          <a:p>
            <a:pPr marL="205740" indent="-20574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Z. Ji et al. (2023), “Survey of Hallucination in Natural Language Generation”, ACM Computing Surveys 55(12) — arXiv:2202.03629.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250"/>
              </a:spcAft>
              <a:buNone/>
            </a:pPr>
            <a:r>
              <a:rPr lang="en-US" sz="1350" b="1" i="0" dirty="0">
                <a:solidFill>
                  <a:srgbClr val="0B6FB4"/>
                </a:solidFill>
                <a:latin typeface="Arial" pitchFamily="34" charset="0"/>
                <a:cs typeface="Arial" pitchFamily="34" charset="0"/>
              </a:rPr>
              <a:t>Retrieval and fusion</a:t>
            </a:r>
          </a:p>
          <a:p>
            <a:pPr marL="205740" indent="-20574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P. Lewis et al. (2020), “Retrieval-Augmented Generation for Knowledge-Intensive NLP Tasks”, NeurIPS — arXiv:2005.11401.</a:t>
            </a:r>
          </a:p>
          <a:p>
            <a:pPr marL="205740" indent="-20574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G. Cormack, C. Clarke and S. Buettcher (2009), “Reciprocal Rank Fusion Outperforms Condorcet and Individual Rank Learning Methods”, SIGIR — doi:10.1145/1571941.1572114.</a:t>
            </a:r>
          </a:p>
          <a:p>
            <a:pPr marL="205740" indent="-20574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D. Edge et al. (2024), “From Local to Global: A Graph RAG Approach to Query-Focused Summarization” — arXiv:2404.16130.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250"/>
              </a:spcAft>
              <a:buNone/>
            </a:pPr>
            <a:r>
              <a:rPr lang="en-US" sz="1350" b="1" i="0" dirty="0">
                <a:solidFill>
                  <a:srgbClr val="0B6FB4"/>
                </a:solidFill>
                <a:latin typeface="Arial" pitchFamily="34" charset="0"/>
                <a:cs typeface="Arial" pitchFamily="34" charset="0"/>
              </a:rPr>
              <a:t>Models we run locally</a:t>
            </a:r>
          </a:p>
          <a:p>
            <a:pPr marL="205740" indent="-20574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J. Chen et al. (2024), “M3-Embedding” (BGE-M3) — arXiv:2402.03216   ·   S. Xiao et al. (2023), “C-Pack” (BGE rerankers) — arXiv:2309.07597.</a:t>
            </a:r>
          </a:p>
          <a:p>
            <a:pPr marL="205740" indent="-20574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X. Zhai et al. (2023), “Sigmoid Loss for Language Image Pre-Training” (SigLIP), ICCV — arXiv:2303.15343.</a:t>
            </a:r>
          </a:p>
          <a:p>
            <a:pPr marL="205740" indent="-20574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Qwen Team (2025), “Qwen3-VL Technical Report” — arXiv:2511.21631  ·  https://github.com/QwenLM/Qwen3-VL.</a:t>
            </a: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250"/>
              </a:spcAft>
              <a:buNone/>
            </a:pPr>
            <a:r>
              <a:rPr lang="en-US" sz="1350" b="1" i="0" dirty="0">
                <a:solidFill>
                  <a:srgbClr val="0B6FB4"/>
                </a:solidFill>
                <a:latin typeface="Arial" pitchFamily="34" charset="0"/>
                <a:cs typeface="Arial" pitchFamily="34" charset="0"/>
              </a:rPr>
              <a:t>Tools and our own work</a:t>
            </a:r>
          </a:p>
          <a:p>
            <a:pPr marL="205740" indent="-20574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Neo4j vector indexes and full-text search — https://neo4j.com/docs   ·   PyMuPDF — https://pymupdf.readthedocs.io   ·   SymPy — https://www.sympy.org</a:t>
            </a:r>
          </a:p>
          <a:p>
            <a:pPr marL="205740" indent="-20574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b="0" i="0" dirty="0">
                <a:solidFill>
                  <a:srgbClr val="1A2434"/>
                </a:solidFill>
                <a:latin typeface="Arial" pitchFamily="34" charset="0"/>
                <a:cs typeface="Arial" pitchFamily="34" charset="0"/>
              </a:rPr>
              <a:t>Project repository and full technical README — https://github.com/Nnik345/sih-stem-rag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8941" y="252246"/>
            <a:ext cx="146175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Jura Tempest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50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7711</TotalTime>
  <Words>1104</Words>
  <Application>Microsoft Office PowerPoint</Application>
  <PresentationFormat>Widescreen</PresentationFormat>
  <Paragraphs>94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Ashwath M</cp:lastModifiedBy>
  <cp:revision>153</cp:revision>
  <dcterms:created xsi:type="dcterms:W3CDTF">2013-12-12T18:46:50Z</dcterms:created>
  <dcterms:modified xsi:type="dcterms:W3CDTF">2026-09-02T07:40:24Z</dcterms:modified>
  <cp:category/>
</cp:coreProperties>
</file>